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30-minute video shows exactly how to prepare for the Claude Certified Architect Foundations exam, where to focus, and the reasoning patterns that decide the questions. Introduce yourself and the goal: a clear, efficient path to a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agenda. Tell viewers to watch to the end — the meta-rules and the exam-day strategy are where most people recover the points that fail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numbers. Emphasize: scaled score, 720 is the cut, and it is scenario-based — you get 4 of 6 possible scenarios. On multiple-response items, select exactly the number requested.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 proportionally. Roughly 16 of 60 items come from Agentic Architecture. Claude Code and Prompt/Output are 12 each. Don't over-invest in the smallest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mindset shift. Candidates who fail usually know the facts but pick a plausible-but-wrong option on close calls. The next four slides give the reasoning patterns that resolve those close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Meta-rule 1 is the most tested idea on the exam: deterministic requirement means hook or gate, not a prompt. Meta-rule 2: examiners love over-engineered distractors — the proportionate fix almost always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Meta-rule 3: the fix for tool confusion is almost always better descriptions. Meta-rule 4: cross out any option built on self-reported confidence or sentiment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Meta-rule 5: scope tools tightly. Meta-rule 6: “use a bigger context window” is a classic trap answer for review-quality problems — the fix is splitting into passes.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Meta-rule 7: whenever an option preserves structure and metadata, favor it. Meta-rule 8: read the log detail in the stem — it usually names the culprit; don't blame components that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points. If an option references one of these non-existent features, eliminate it immediately. Memorize the real answers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pairs are where a 689 leaks points. Practice by covering the right column and defining each term from the left until it is automatic.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 option matches one of these patterns, it is nearly always the trap. Train yourself to spot them on sight — this is fast, reliable elimination.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study plan. Reassure viewers: you don't need to read all the documentation — targeted building plus deliberate practice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workstreams. The point: you learn the tradeoffs by building small versions of each system, not by memorizing docs. Each maps directly to exam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practice. The single highest-value habit is naming the trap in every wrong option — it trains the fast elimination that wins close calls under time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test-taking process in order: read fully, classify the requirement, eliminate traps, then choose. Manage the clock — don't let two hard items eat time meant for ten easy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five highest-leverage reminders. Deliver these with energy — this is the summary viewers will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viewers to the primary sources. Note that the exam guide (from the Partner Academy) is the authoritative blueprint — read it in full. Registration is via the Partner Academy and Pearson VUE.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encouragement and the call to action: like, subscribe, and comment. Invite viewers to share their results. Thank them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E0532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4206240" cy="4206240"/>
          </a:xfrm>
          <a:prstGeom prst="ellipse">
            <a:avLst/>
          </a:prstGeom>
          <a:solidFill>
            <a:srgbClr val="F2A93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F9E92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MASTERCLASS  ·  CCAR-F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PASS the Claude Certified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– Foundations Exam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5394960" cy="54864"/>
          </a:xfrm>
          <a:prstGeom prst="roundRect">
            <a:avLst>
              <a:gd name="adj" fmla="val 50000"/>
            </a:avLst>
          </a:prstGeom>
          <a:solidFill>
            <a:srgbClr val="E0532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tips, the exact focus areas, and the meta-rules that decide the exam.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to-the-point walkthrough for candidates preparing to sit the exam.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VIDEO COVERS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30-minute game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566928" cy="566928"/>
          </a:xfrm>
          <a:prstGeom prst="ellipse">
            <a:avLst/>
          </a:prstGeom>
          <a:solidFill>
            <a:srgbClr val="E0532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084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at a glance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7249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format, scoring, and what “pass” means.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2084832"/>
            <a:ext cx="566928" cy="566928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2084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2084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7249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weighting — spend time where the points are.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77072" y="2084832"/>
            <a:ext cx="566928" cy="566928"/>
          </a:xfrm>
          <a:prstGeom prst="ellipse">
            <a:avLst/>
          </a:prstGeom>
          <a:solidFill>
            <a:srgbClr val="1F9E92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77072" y="2084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81160" y="2084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meta-rules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0" y="27249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that decides most questions.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142232"/>
            <a:ext cx="566928" cy="566928"/>
          </a:xfrm>
          <a:prstGeom prst="ellipse">
            <a:avLst/>
          </a:prstGeom>
          <a:solidFill>
            <a:srgbClr val="E0532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4142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142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Traps to auto-eliminate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47823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features &amp; wrong-answer patterns.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80560" y="38862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4142232"/>
            <a:ext cx="566928" cy="566928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4142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4142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study plan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54880" y="47823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and practice with limited time.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21040" y="38862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77072" y="4142232"/>
            <a:ext cx="566928" cy="566928"/>
          </a:xfrm>
          <a:prstGeom prst="ellipse">
            <a:avLst/>
          </a:prstGeom>
          <a:solidFill>
            <a:srgbClr val="1F9E92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77072" y="4142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81160" y="4142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Exam-day strategy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95360" y="47823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items and manage the clock.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FORMAT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146304" cy="1783080"/>
          </a:xfrm>
          <a:prstGeom prst="roundRect">
            <a:avLst/>
          </a:prstGeom>
          <a:solidFill>
            <a:srgbClr val="E053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671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87552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items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8745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874520"/>
            <a:ext cx="146304" cy="178308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1671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828032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18745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874520"/>
            <a:ext cx="146304" cy="1783080"/>
          </a:xfrm>
          <a:prstGeom prst="roundRect">
            <a:avLst/>
          </a:prstGeom>
          <a:solidFill>
            <a:srgbClr val="1F9E92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21671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668512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pass (of 1000)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31920"/>
            <a:ext cx="146304" cy="1783080"/>
          </a:xfrm>
          <a:prstGeom prst="roundRect">
            <a:avLst/>
          </a:prstGeom>
          <a:solidFill>
            <a:srgbClr val="E0532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2245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87552" y="5166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shown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80560" y="3931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3931920"/>
            <a:ext cx="146304" cy="178308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42245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828032" y="5166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validity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21040" y="3931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3931920"/>
            <a:ext cx="146304" cy="1783080"/>
          </a:xfrm>
          <a:prstGeom prst="roundRect">
            <a:avLst/>
          </a:prstGeom>
          <a:solidFill>
            <a:srgbClr val="1F9E92"/>
          </a:solidFill>
          <a:ln/>
        </p:spPr>
      </p:sp>
      <p:sp>
        <p:nvSpPr>
          <p:cNvPr id="26" name="Text 24"/>
          <p:cNvSpPr/>
          <p:nvPr/>
        </p:nvSpPr>
        <p:spPr>
          <a:xfrm>
            <a:off x="8641080" y="42245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8668512" y="5166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&amp; response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study time by domain weight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&amp; Orchestration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92040" y="2066544"/>
            <a:ext cx="6675120" cy="347472"/>
          </a:xfrm>
          <a:prstGeom prst="roundRect">
            <a:avLst>
              <a:gd name="adj" fmla="val 21053"/>
            </a:avLst>
          </a:prstGeom>
          <a:solidFill>
            <a:srgbClr val="EDF0F4"/>
          </a:solidFill>
          <a:ln/>
        </p:spPr>
      </p:sp>
      <p:sp>
        <p:nvSpPr>
          <p:cNvPr id="6" name="Shape 4"/>
          <p:cNvSpPr/>
          <p:nvPr/>
        </p:nvSpPr>
        <p:spPr>
          <a:xfrm>
            <a:off x="4892040" y="2066544"/>
            <a:ext cx="6675120" cy="347472"/>
          </a:xfrm>
          <a:prstGeom prst="roundRect">
            <a:avLst>
              <a:gd name="adj" fmla="val 21053"/>
            </a:avLst>
          </a:prstGeom>
          <a:solidFill>
            <a:srgbClr val="E0532B"/>
          </a:solidFill>
          <a:ln/>
          <a:effectLst>
            <a:outerShdw sx="100000" sy="100000" kx="0" ky="0" algn="bl" rotWithShape="0" blurRad="63500" dist="25400" dir="5400000">
              <a:srgbClr val="9AA6B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676888" y="20208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791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Configuration &amp; Workflows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2779776"/>
            <a:ext cx="6675120" cy="347472"/>
          </a:xfrm>
          <a:prstGeom prst="roundRect">
            <a:avLst>
              <a:gd name="adj" fmla="val 21053"/>
            </a:avLst>
          </a:prstGeom>
          <a:solidFill>
            <a:srgbClr val="EDF0F4"/>
          </a:solidFill>
          <a:ln/>
        </p:spPr>
      </p:sp>
      <p:sp>
        <p:nvSpPr>
          <p:cNvPr id="10" name="Shape 8"/>
          <p:cNvSpPr/>
          <p:nvPr/>
        </p:nvSpPr>
        <p:spPr>
          <a:xfrm>
            <a:off x="4892040" y="2779776"/>
            <a:ext cx="4944533" cy="347472"/>
          </a:xfrm>
          <a:prstGeom prst="roundRect">
            <a:avLst>
              <a:gd name="adj" fmla="val 21053"/>
            </a:avLst>
          </a:prstGeom>
          <a:solidFill>
            <a:srgbClr val="F2A93B"/>
          </a:solidFill>
          <a:ln/>
          <a:effectLst>
            <a:outerShdw sx="100000" sy="100000" kx="0" ky="0" algn="bl" rotWithShape="0" blurRad="63500" dist="25400" dir="5400000">
              <a:srgbClr val="9AA6B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946301" y="273405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924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3493008"/>
            <a:ext cx="6675120" cy="347472"/>
          </a:xfrm>
          <a:prstGeom prst="roundRect">
            <a:avLst>
              <a:gd name="adj" fmla="val 21053"/>
            </a:avLst>
          </a:prstGeom>
          <a:solidFill>
            <a:srgbClr val="EDF0F4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3493008"/>
            <a:ext cx="4944533" cy="347472"/>
          </a:xfrm>
          <a:prstGeom prst="roundRect">
            <a:avLst>
              <a:gd name="adj" fmla="val 21053"/>
            </a:avLst>
          </a:prstGeom>
          <a:solidFill>
            <a:srgbClr val="1F9E92"/>
          </a:solidFill>
          <a:ln/>
          <a:effectLst>
            <a:outerShdw sx="100000" sy="100000" kx="0" ky="0" algn="bl" rotWithShape="0" blurRad="63500" dist="25400" dir="5400000">
              <a:srgbClr val="9AA6B5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946301" y="344728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1056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&amp; MCP Integration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4206240"/>
            <a:ext cx="6675120" cy="347472"/>
          </a:xfrm>
          <a:prstGeom prst="roundRect">
            <a:avLst>
              <a:gd name="adj" fmla="val 21053"/>
            </a:avLst>
          </a:prstGeom>
          <a:solidFill>
            <a:srgbClr val="EDF0F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4206240"/>
            <a:ext cx="4450080" cy="347472"/>
          </a:xfrm>
          <a:prstGeom prst="roundRect">
            <a:avLst>
              <a:gd name="adj" fmla="val 21053"/>
            </a:avLst>
          </a:prstGeom>
          <a:solidFill>
            <a:srgbClr val="E0532B"/>
          </a:solidFill>
          <a:ln/>
          <a:effectLst>
            <a:outerShdw sx="100000" sy="100000" kx="0" ky="0" algn="bl" rotWithShape="0" blurRad="63500" dist="25400" dir="5400000">
              <a:srgbClr val="9AA6B5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51848" y="41605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8188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&amp; Reliability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4919472"/>
            <a:ext cx="6675120" cy="347472"/>
          </a:xfrm>
          <a:prstGeom prst="roundRect">
            <a:avLst>
              <a:gd name="adj" fmla="val 21053"/>
            </a:avLst>
          </a:prstGeom>
          <a:solidFill>
            <a:srgbClr val="EDF0F4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4919472"/>
            <a:ext cx="3708400" cy="347472"/>
          </a:xfrm>
          <a:prstGeom prst="roundRect">
            <a:avLst>
              <a:gd name="adj" fmla="val 21053"/>
            </a:avLst>
          </a:prstGeom>
          <a:solidFill>
            <a:srgbClr val="F2A93B"/>
          </a:solidFill>
          <a:ln/>
          <a:effectLst>
            <a:outerShdw sx="100000" sy="100000" kx="0" ky="0" algn="bl" rotWithShape="0" blurRad="63500" dist="25400" dir="5400000">
              <a:srgbClr val="9AA6B5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10168" y="487375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59612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4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is the single biggest slice at 27%. Study it hardest — it can move your score more than any other domain.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03120"/>
            <a:ext cx="5943600" cy="5943600"/>
          </a:xfrm>
          <a:prstGeom prst="ellipse">
            <a:avLst/>
          </a:prstGeom>
          <a:solidFill>
            <a:srgbClr val="E0532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566160"/>
            <a:ext cx="4754880" cy="4754880"/>
          </a:xfrm>
          <a:prstGeom prst="ellipse">
            <a:avLst/>
          </a:prstGeom>
          <a:solidFill>
            <a:srgbClr val="1F9E92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judgment exam — not a recall exam.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3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question asks for the </a:t>
            </a:r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effective</a:t>
            </a:r>
            <a:pPr indent="0" marL="0">
              <a:buNone/>
            </a:pPr>
            <a:r>
              <a:rPr lang="en-US" sz="1900" dirty="0">
                <a:solidFill>
                  <a:srgbClr val="D3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pPr indent="0" marL="0">
              <a:buNone/>
            </a:pPr>
            <a:r>
              <a:rPr lang="en-US" sz="1900" dirty="0">
                <a:solidFill>
                  <a:srgbClr val="D3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 to a broken production system.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3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wrong answers are plausible but break one simple rule of good judgment.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8778240" cy="822960"/>
          </a:xfrm>
          <a:prstGeom prst="roundRect">
            <a:avLst>
              <a:gd name="adj" fmla="val 15556"/>
            </a:avLst>
          </a:prstGeom>
          <a:solidFill>
            <a:srgbClr val="E0532B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4983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8 meta-rules next — they decide the close calls.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META-RULES · 1 –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that decides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04288"/>
            <a:ext cx="822960" cy="822960"/>
          </a:xfrm>
          <a:prstGeom prst="ellipse">
            <a:avLst/>
          </a:prstGeom>
          <a:solidFill>
            <a:srgbClr val="E0532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042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17627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requirement → programmatic enforcement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65960" y="276148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MUST always happen (verify identity before a refund, block refunds over a limit), use a hook or prerequisite gate — never a prompt instruction. Prompts have a non-zero failure rate.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636008"/>
            <a:ext cx="822960" cy="82296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636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450799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the proportionate, root-cause first fix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65960" y="509320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asked for the “first step” or “most effective” fix, pick the lowest-effort change that addresses the real cause. Reject classifiers, extra models, and rebuilds when a prompt or description fix is untried.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META-RULES · 3 –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that decides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04288"/>
            <a:ext cx="822960" cy="822960"/>
          </a:xfrm>
          <a:prstGeom prst="ellipse">
            <a:avLst/>
          </a:prstGeom>
          <a:solidFill>
            <a:srgbClr val="1F9E92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042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17627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are the primary selection mechanism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65960" y="276148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misroutes between similar tools, fix the descriptions first — inputs, example queries, edge cases, when to use vs. a similar tool. That beats few-shot, routing layers, or merging tools.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636008"/>
            <a:ext cx="822960" cy="822960"/>
          </a:xfrm>
          <a:prstGeom prst="ellipse">
            <a:avLst/>
          </a:prstGeom>
          <a:solidFill>
            <a:srgbClr val="E0532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636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450799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Self-confidence and sentiment are unreliable proxies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65960" y="509320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LLM’s own confidence is poorly calibrated — it is confidently wrong on hard cases. Sentiment does not track case complexity. Any answer that escalates or routes on these is wrong.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META-RULES · 5 –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that decides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04288"/>
            <a:ext cx="822960" cy="82296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042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17627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for tools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65960" y="276148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tools (e.g. 18 vs 4–5) degrades selection. Scope each agent to its role; add one narrow, scoped tool for a high-frequency cross-role need rather than handing over everything.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636008"/>
            <a:ext cx="822960" cy="822960"/>
          </a:xfrm>
          <a:prstGeom prst="ellipse">
            <a:avLst/>
          </a:prstGeom>
          <a:solidFill>
            <a:srgbClr val="1F9E92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636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450799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context or model does not fix attention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65960" y="509320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or shallow review across many files is attention dilution — solve it with per-file passes plus an integration pass, not a larger context window or a bigger model.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META-RULES · 7 –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that decides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04288"/>
            <a:ext cx="822960" cy="822960"/>
          </a:xfrm>
          <a:prstGeom prst="ellipse">
            <a:avLst/>
          </a:prstGeom>
          <a:solidFill>
            <a:srgbClr val="E0532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042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17627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beats prose — everywhere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65960" y="276148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 context over “operation failed”; claim-source mappings over summarized prose; a persistent case-facts block over a vague summary. The structured option is usually right.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636008"/>
            <a:ext cx="822960" cy="82296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636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450799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actual failing component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65960" y="509320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logs show the coordinator decomposed the topic badly, the fault is the coordinator — not the subagents that executed the bad plan correctly. Match the fix to the evidence.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POINTS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Auto-eliminate: features that don’t exist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331720"/>
            <a:ext cx="914400" cy="9144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6" name="Text 4"/>
          <p:cNvSpPr/>
          <p:nvPr/>
        </p:nvSpPr>
        <p:spPr>
          <a:xfrm>
            <a:off x="19431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CLAUDE_HEADLESS=true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such env var.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4507992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F7EFE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507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claude -p  /  --print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83580" y="2331720"/>
            <a:ext cx="914400" cy="9144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13" name="Text 11"/>
          <p:cNvSpPr/>
          <p:nvPr/>
        </p:nvSpPr>
        <p:spPr>
          <a:xfrm>
            <a:off x="578358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09160" y="3383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--batch  on the Claude Code CLI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4069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real flag.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4507992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F7EFE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4507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= Message Batches API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21040" y="19659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24060" y="2331720"/>
            <a:ext cx="914400" cy="9144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20" name="Text 18"/>
          <p:cNvSpPr/>
          <p:nvPr/>
        </p:nvSpPr>
        <p:spPr>
          <a:xfrm>
            <a:off x="962406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549640" y="3383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.claude/config.json  commands array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49640" y="4069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such mechanism.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41080" y="4507992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F7EFE7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4507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live in  .claude/commands/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THESE TO REFLEX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Confusable pairs where points hide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411480" cy="411480"/>
          </a:xfrm>
          <a:prstGeom prst="ellipse">
            <a:avLst/>
          </a:prstGeom>
          <a:solidFill>
            <a:srgbClr val="E0532B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vs Fork vs Fresh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5146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resume=continue · fork=branch · fresh+summary=stale results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2286000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vs Tool (MCP)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5146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= read-only content catalog · tool = an action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794760"/>
            <a:ext cx="411480" cy="411480"/>
          </a:xfrm>
          <a:prstGeom prst="ellipse">
            <a:avLst/>
          </a:prstGeom>
          <a:solidFill>
            <a:srgbClr val="1F9E92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566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tool_choice: any vs forced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= must call some tool · forced = must call THAT tool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3832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3794760"/>
            <a:ext cx="411480" cy="411480"/>
          </a:xfrm>
          <a:prstGeom prst="ellipse">
            <a:avLst/>
          </a:prstGeom>
          <a:solidFill>
            <a:srgbClr val="E0532B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3566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 vs interception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40233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normalize · outgoing calls block/redirect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5303520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5074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vs Glob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5321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= file contents · Glob = file names/paths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489204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29400" y="5303520"/>
            <a:ext cx="411480" cy="411480"/>
          </a:xfrm>
          <a:prstGeom prst="ellipse">
            <a:avLst/>
          </a:prstGeom>
          <a:solidFill>
            <a:srgbClr val="1F9E92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5074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vs Direct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55321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architectural/multi-file · simple, scoped change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that are almost always wrong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48256"/>
            <a:ext cx="457200" cy="4572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classifier / add an ML routing layer when a prompt fix is untried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2048256"/>
            <a:ext cx="457200" cy="4572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49440" y="19202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model’s self-reported confidence to route hard cases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457200" cy="4572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85292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sentiment as a proxy for case complexity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55080" y="2980944"/>
            <a:ext cx="457200" cy="4572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0" y="285292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bigger model or larger context to fix attention quality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78561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voting that suppresses intermittently-caught real bugs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3913632"/>
            <a:ext cx="457200" cy="4572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378561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instruction where a deterministic hook / gate is required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71830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suppress errors, or kill the whole workflow on one failure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55080" y="4846320"/>
            <a:ext cx="457200" cy="457200"/>
          </a:xfrm>
          <a:prstGeom prst="ellipse">
            <a:avLst/>
          </a:prstGeom>
          <a:solidFill>
            <a:srgbClr val="FBE4DE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49440" y="471830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 non-existent feature (CLAUDE_HEADLESS, --batch)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217920" cy="621792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657600"/>
            <a:ext cx="5120640" cy="5120640"/>
          </a:xfrm>
          <a:prstGeom prst="ellipse">
            <a:avLst/>
          </a:prstGeom>
          <a:solidFill>
            <a:srgbClr val="E0532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study — with limited time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hands-on plan and a practice method that actually moves your score.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BEATS READING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study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053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121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7614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loop: stop_reason control, tool calls, structured errors, sessions &amp; subagents.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1031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2121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Claude Code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73168" y="27614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hierarchy, .claude/rules/ globs, skills (context: fork), one MCP server.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21031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F9E92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2121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MCP tools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13648" y="27614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descriptions; structured errors with category + retryable flags.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1605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0532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4178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pipeline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2688" y="48188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+ JSON schema, nullable fields, validation-retry, batch with custom_id.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8862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41605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4178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techniques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773168" y="48188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for ambiguity; explicit criteria to cut false positives; multi-pass review.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21040" y="38862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95360" y="41605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F9E92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281160" y="4178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escalation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613648" y="48188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Case-facts blocks, scratchpads, subagent delegation; when to escalate vs resolve.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DELIBERATELY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way the exam rewards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59536"/>
          </a:xfrm>
          <a:prstGeom prst="roundRect">
            <a:avLst>
              <a:gd name="adj" fmla="val 12766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93976"/>
            <a:ext cx="502920" cy="502920"/>
          </a:xfrm>
          <a:prstGeom prst="ellipse">
            <a:avLst/>
          </a:prstGeom>
          <a:solidFill>
            <a:srgbClr val="E0532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93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0253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scenario blocks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66360" y="2002536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10 items in ~20 minutes to build the 2-minute-per-item rhythm.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881360" cy="859536"/>
          </a:xfrm>
          <a:prstGeom prst="roundRect">
            <a:avLst>
              <a:gd name="adj" fmla="val 1276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18104"/>
            <a:ext cx="502920" cy="50292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02666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trap out loud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3026664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wrong option, say why it fails. This is what converts a near-miss into a pass.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859536"/>
          </a:xfrm>
          <a:prstGeom prst="roundRect">
            <a:avLst>
              <a:gd name="adj" fmla="val 12766"/>
            </a:avLst>
          </a:prstGeom>
          <a:solidFill>
            <a:srgbClr val="F7EFE7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42232"/>
            <a:ext cx="502920" cy="502920"/>
          </a:xfrm>
          <a:prstGeom prst="ellipse">
            <a:avLst/>
          </a:prstGeom>
          <a:solidFill>
            <a:srgbClr val="1F9E92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050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recall, not re-reading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6360" y="405079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answer; recall it. Cover the confusable-pair definitions and reproduce them.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946904"/>
            <a:ext cx="10881360" cy="859536"/>
          </a:xfrm>
          <a:prstGeom prst="roundRect">
            <a:avLst>
              <a:gd name="adj" fmla="val 12766"/>
            </a:avLst>
          </a:prstGeom>
          <a:solidFill>
            <a:srgbClr val="EEF3F8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166360"/>
            <a:ext cx="502920" cy="502920"/>
          </a:xfrm>
          <a:prstGeom prst="ellipse">
            <a:avLst/>
          </a:prstGeom>
          <a:solidFill>
            <a:srgbClr val="E0532B"/>
          </a:solidFill>
          <a:ln/>
          <a:effectLst>
            <a:outerShdw sx="100000" sy="100000" kx="0" ky="0" algn="bl" rotWithShape="0" blurRad="76200" dist="25400" dir="5400000">
              <a:srgbClr val="9AA6B5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5074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what you miss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507492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Re-attempt missed items a day later. Track which meta-rule each miss maps to.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Exam-day strategy &amp; time management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46304" cy="676656"/>
          </a:xfrm>
          <a:prstGeom prst="roundRect">
            <a:avLst/>
          </a:prstGeom>
          <a:solidFill>
            <a:srgbClr val="E053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whole stem first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20640" y="1874520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deciding detail is often in the “logs show…” sentence — it names the culprit.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34056"/>
            <a:ext cx="146304" cy="67665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3405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requirement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2734056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vs best-effort. That single call points you to hook/gate vs prompt.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146304" cy="676656"/>
          </a:xfrm>
          <a:prstGeom prst="roundRect">
            <a:avLst/>
          </a:prstGeom>
          <a:solidFill>
            <a:srgbClr val="1F9E9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9359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before choosing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3593592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out fake features, over-engineered, sentiment/confidence answers first.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146304" cy="676656"/>
          </a:xfrm>
          <a:prstGeom prst="roundRect">
            <a:avLst/>
          </a:prstGeom>
          <a:solidFill>
            <a:srgbClr val="E0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53128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clock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4453128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min/item. Answer reflex items fast; bank time for close judgment calls.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312664"/>
            <a:ext cx="146304" cy="67665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312664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“Select TWO”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5312664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multiple-response items, pick exactly the number asked — no more, no less.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05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931920"/>
            <a:ext cx="4754880" cy="4754880"/>
          </a:xfrm>
          <a:prstGeom prst="ellipse">
            <a:avLst/>
          </a:prstGeom>
          <a:solidFill>
            <a:srgbClr val="16233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31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reminders that carry you across the 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0584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A2E17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37744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37744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requirement → hook or gate, never a prompt.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127248"/>
            <a:ext cx="100584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A2E17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12724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127248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“First step” → the proportionate, root-cause fix.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877056"/>
            <a:ext cx="100584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A2E17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87705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3877056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confusion → fix the descriptions first.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626864"/>
            <a:ext cx="100584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A2E17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62686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626864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problems → split into passes, not bigger context.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5376672"/>
            <a:ext cx="100584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A2E17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537667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5376672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Fancy answers (classifier, sentiment, self-confidence) are traps.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reference links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848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053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751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Documentation (home)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848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9751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docs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331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docs.claude.com/en/docs/claude-code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182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F9E9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0723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docs.claude.com/en/api/agent-sdk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292608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1821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053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0723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(function calling)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429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docs.claude.com/en/docs/build-with-claude/tool-use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2793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1696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overview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4526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docs.claude.com/en/docs/build-with-claude/prompt-engineering/overview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02336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42793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F9E92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41696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Batches API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4526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docs.claude.com/en/docs/build-with-claude/batch-processing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12064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8680" y="53766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0532B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5340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63040" y="52669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463040" y="5623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modelcontextprotocol.io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55080" y="512064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5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83680" y="53766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2A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5340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78040" y="52669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scheduling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178040" y="5623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Partner Academy  ·  pearsonvue.com/us/en/anthropic.html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 ·  Exam Prep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583680" cy="6583680"/>
          </a:xfrm>
          <a:prstGeom prst="ellipse">
            <a:avLst/>
          </a:prstGeom>
          <a:solidFill>
            <a:srgbClr val="E0532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291840"/>
            <a:ext cx="5669280" cy="5669280"/>
          </a:xfrm>
          <a:prstGeom prst="ellipse">
            <a:avLst/>
          </a:prstGeom>
          <a:solidFill>
            <a:srgbClr val="1F9E9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1488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— you’ve got this.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proportionally, drill the meta-rules, and eliminate the traps.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4663440" cy="868680"/>
          </a:xfrm>
          <a:prstGeom prst="roundRect">
            <a:avLst>
              <a:gd name="adj" fmla="val 14737"/>
            </a:avLst>
          </a:prstGeom>
          <a:solidFill>
            <a:srgbClr val="E0532B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2976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Subscribe · Comment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your exam score in the comments — I read every one.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CCAR-F Masterclass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 Prep</dc:creator>
  <cp:lastModifiedBy>Exam Prep</cp:lastModifiedBy>
  <cp:revision>1</cp:revision>
  <dcterms:created xsi:type="dcterms:W3CDTF">2026-07-10T04:17:59Z</dcterms:created>
  <dcterms:modified xsi:type="dcterms:W3CDTF">2026-07-10T04:17:59Z</dcterms:modified>
</cp:coreProperties>
</file>